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297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97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6.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txBox="1"/>
          <p:nvPr/>
        </p:nvSpPr>
        <p:spPr>
          <a:xfrm>
            <a:off x="0" y="14092"/>
            <a:ext cx="9144000" cy="671400"/>
          </a:xfrm>
          <a:prstGeom prst="rect">
            <a:avLst/>
          </a:prstGeom>
          <a:noFill/>
          <a:ln cap="flat" cmpd="sng" w="2857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3"/>
          <p:cNvSpPr txBox="1"/>
          <p:nvPr/>
        </p:nvSpPr>
        <p:spPr>
          <a:xfrm>
            <a:off x="734419" y="-60602"/>
            <a:ext cx="8363157" cy="726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2024-2025 M.Sc. in Data Science and Analytics</a:t>
            </a:r>
            <a:endParaRPr b="1" i="0" sz="1200" u="none" cap="none" strike="noStrike">
              <a:solidFill>
                <a:srgbClr val="002F84"/>
              </a:solidFill>
              <a:latin typeface="Times New Roman"/>
              <a:ea typeface="Times New Roman"/>
              <a:cs typeface="Times New Roman"/>
              <a:sym typeface="Times New Roman"/>
            </a:endParaRPr>
          </a:p>
          <a:p>
            <a:pPr indent="0" lvl="0" marL="0" marR="0" rtl="0" algn="ctr">
              <a:lnSpc>
                <a:spcPct val="115000"/>
              </a:lnSpc>
              <a:spcBef>
                <a:spcPts val="0"/>
              </a:spcBef>
              <a:spcAft>
                <a:spcPts val="0"/>
              </a:spcAft>
              <a:buClr>
                <a:srgbClr val="000000"/>
              </a:buClr>
              <a:buSzPts val="1200"/>
              <a:buFont typeface="Arial"/>
              <a:buNone/>
            </a:pPr>
            <a:r>
              <a:rPr b="1" lang="en" sz="1200">
                <a:solidFill>
                  <a:srgbClr val="002F84"/>
                </a:solidFill>
                <a:latin typeface="Times New Roman"/>
                <a:ea typeface="Times New Roman"/>
                <a:cs typeface="Times New Roman"/>
                <a:sym typeface="Times New Roman"/>
              </a:rPr>
              <a:t>APPLICATION OF DATA MINING TO THE ANALYSIS OF CRIME DATA</a:t>
            </a:r>
            <a:endParaRPr b="1" i="0" sz="1200" u="none" cap="none" strike="noStrike">
              <a:solidFill>
                <a:srgbClr val="002F84"/>
              </a:solidFill>
              <a:latin typeface="Times New Roman"/>
              <a:ea typeface="Times New Roman"/>
              <a:cs typeface="Times New Roman"/>
              <a:sym typeface="Times New Roman"/>
            </a:endParaRPr>
          </a:p>
          <a:p>
            <a:pPr indent="0" lvl="0" marL="0" marR="0" rtl="0" algn="ctr">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                       </a:t>
            </a:r>
            <a:r>
              <a:rPr b="1" lang="en" sz="1200">
                <a:solidFill>
                  <a:srgbClr val="002F84"/>
                </a:solidFill>
                <a:latin typeface="Times New Roman"/>
                <a:ea typeface="Times New Roman"/>
                <a:cs typeface="Times New Roman"/>
                <a:sym typeface="Times New Roman"/>
              </a:rPr>
              <a:t>Vanessa</a:t>
            </a:r>
            <a:r>
              <a:rPr b="1" i="0" lang="en" sz="1200" u="none" cap="none" strike="noStrike">
                <a:solidFill>
                  <a:srgbClr val="002F84"/>
                </a:solidFill>
                <a:latin typeface="Times New Roman"/>
                <a:ea typeface="Times New Roman"/>
                <a:cs typeface="Times New Roman"/>
                <a:sym typeface="Times New Roman"/>
              </a:rPr>
              <a:t> </a:t>
            </a:r>
            <a:r>
              <a:rPr b="1" lang="en" sz="1200">
                <a:solidFill>
                  <a:srgbClr val="002F84"/>
                </a:solidFill>
                <a:latin typeface="Times New Roman"/>
                <a:ea typeface="Times New Roman"/>
                <a:cs typeface="Times New Roman"/>
                <a:sym typeface="Times New Roman"/>
              </a:rPr>
              <a:t>Afolabi</a:t>
            </a:r>
            <a:r>
              <a:rPr b="1" i="0" lang="en" sz="1200" u="none" cap="none" strike="noStrike">
                <a:solidFill>
                  <a:srgbClr val="002F84"/>
                </a:solidFill>
                <a:latin typeface="Times New Roman"/>
                <a:ea typeface="Times New Roman"/>
                <a:cs typeface="Times New Roman"/>
                <a:sym typeface="Times New Roman"/>
              </a:rPr>
              <a:t>				            Supervisor: Dr. </a:t>
            </a:r>
            <a:r>
              <a:rPr b="1" lang="en" sz="1200">
                <a:solidFill>
                  <a:srgbClr val="002F84"/>
                </a:solidFill>
                <a:latin typeface="Times New Roman"/>
                <a:ea typeface="Times New Roman"/>
                <a:cs typeface="Times New Roman"/>
                <a:sym typeface="Times New Roman"/>
              </a:rPr>
              <a:t>Mucahit Cevik</a:t>
            </a:r>
            <a:r>
              <a:rPr b="1" i="0" lang="en" sz="1200" u="none" cap="none" strike="noStrike">
                <a:solidFill>
                  <a:srgbClr val="002F84"/>
                </a:solidFill>
                <a:latin typeface="Times New Roman"/>
                <a:ea typeface="Times New Roman"/>
                <a:cs typeface="Times New Roman"/>
                <a:sym typeface="Times New Roman"/>
              </a:rPr>
              <a:t>			</a:t>
            </a:r>
            <a:endParaRPr b="1" i="0" sz="1200" u="none" cap="none" strike="noStrike">
              <a:solidFill>
                <a:srgbClr val="002F84"/>
              </a:solidFill>
              <a:latin typeface="Times New Roman"/>
              <a:ea typeface="Times New Roman"/>
              <a:cs typeface="Times New Roman"/>
              <a:sym typeface="Times New Roman"/>
            </a:endParaRPr>
          </a:p>
        </p:txBody>
      </p:sp>
      <p:sp>
        <p:nvSpPr>
          <p:cNvPr id="56" name="Google Shape;56;p13"/>
          <p:cNvSpPr txBox="1"/>
          <p:nvPr/>
        </p:nvSpPr>
        <p:spPr>
          <a:xfrm>
            <a:off x="0" y="778942"/>
            <a:ext cx="9144000" cy="861600"/>
          </a:xfrm>
          <a:prstGeom prst="rect">
            <a:avLst/>
          </a:prstGeom>
          <a:noFill/>
          <a:ln cap="flat" cmpd="sng" w="2857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Objective: </a:t>
            </a:r>
            <a:r>
              <a:rPr lang="en" sz="1200">
                <a:latin typeface="Times New Roman"/>
                <a:ea typeface="Times New Roman"/>
                <a:cs typeface="Times New Roman"/>
                <a:sym typeface="Times New Roman"/>
              </a:rPr>
              <a:t>The goal is to perform a deep dive analysis into the </a:t>
            </a:r>
            <a:r>
              <a:rPr lang="en" sz="1200">
                <a:latin typeface="Times New Roman"/>
                <a:ea typeface="Times New Roman"/>
                <a:cs typeface="Times New Roman"/>
                <a:sym typeface="Times New Roman"/>
              </a:rPr>
              <a:t>historical crimes and arrests data </a:t>
            </a:r>
            <a:r>
              <a:rPr lang="en" sz="1200">
                <a:latin typeface="Times New Roman"/>
                <a:ea typeface="Times New Roman"/>
                <a:cs typeface="Times New Roman"/>
                <a:sym typeface="Times New Roman"/>
              </a:rPr>
              <a:t>taken from </a:t>
            </a:r>
            <a:r>
              <a:rPr lang="en" sz="1200">
                <a:latin typeface="Times New Roman"/>
                <a:ea typeface="Times New Roman"/>
                <a:cs typeface="Times New Roman"/>
                <a:sym typeface="Times New Roman"/>
              </a:rPr>
              <a:t>New York City and Toronto from 2014 to 2024, in order to answer questions related to the types of crimes that tend to take place in major metropolitans, where and when they usually occur within each city and to predict the persona and demographics of the criminals linked to different types of crimes.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7" name="Google Shape;57;p13"/>
          <p:cNvSpPr txBox="1"/>
          <p:nvPr/>
        </p:nvSpPr>
        <p:spPr>
          <a:xfrm>
            <a:off x="0" y="1750650"/>
            <a:ext cx="4651800" cy="1649700"/>
          </a:xfrm>
          <a:prstGeom prst="rect">
            <a:avLst/>
          </a:prstGeom>
          <a:noFill/>
          <a:ln cap="flat" cmpd="sng" w="2857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Background</a:t>
            </a:r>
            <a:r>
              <a:rPr b="1" i="0" lang="en" sz="1200" u="none" cap="none" strike="noStrike">
                <a:solidFill>
                  <a:srgbClr val="002F84"/>
                </a:solidFill>
                <a:latin typeface="Times New Roman"/>
                <a:ea typeface="Times New Roman"/>
                <a:cs typeface="Times New Roman"/>
                <a:sym typeface="Times New Roman"/>
              </a:rPr>
              <a:t>:</a:t>
            </a:r>
            <a:r>
              <a:rPr lang="en" sz="1200">
                <a:latin typeface="Times New Roman"/>
                <a:ea typeface="Times New Roman"/>
                <a:cs typeface="Times New Roman"/>
                <a:sym typeface="Times New Roman"/>
              </a:rPr>
              <a:t> </a:t>
            </a:r>
            <a:r>
              <a:rPr lang="en" sz="1100">
                <a:latin typeface="Times New Roman"/>
                <a:ea typeface="Times New Roman"/>
                <a:cs typeface="Times New Roman"/>
                <a:sym typeface="Times New Roman"/>
              </a:rPr>
              <a:t>The occurrence of crime is an inevitable part of society. Different parts of society see varying rates of occurrence of different types of crimes at different points in time. By using data science to extract meaningful insights from historical crime data originating from busy metropolitans, one can learn a lot about the nature of different crimes, crime hotspots, criminal personas and when crimes tend to occur. These tools can ultimately be used by law enforcement to help mitigate criminal activity, solve crimes and discover trends thereby improving overall public safety and quality of life.</a:t>
            </a:r>
            <a:endParaRPr sz="1200">
              <a:latin typeface="Times New Roman"/>
              <a:ea typeface="Times New Roman"/>
              <a:cs typeface="Times New Roman"/>
              <a:sym typeface="Times New Roman"/>
            </a:endParaRPr>
          </a:p>
        </p:txBody>
      </p:sp>
      <p:sp>
        <p:nvSpPr>
          <p:cNvPr id="58" name="Google Shape;58;p13"/>
          <p:cNvSpPr txBox="1"/>
          <p:nvPr/>
        </p:nvSpPr>
        <p:spPr>
          <a:xfrm>
            <a:off x="4803000" y="1750650"/>
            <a:ext cx="4341000" cy="2017800"/>
          </a:xfrm>
          <a:prstGeom prst="rect">
            <a:avLst/>
          </a:prstGeom>
          <a:noFill/>
          <a:ln cap="flat" cmpd="sng" w="2857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Results: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3"/>
          <p:cNvSpPr txBox="1"/>
          <p:nvPr/>
        </p:nvSpPr>
        <p:spPr>
          <a:xfrm>
            <a:off x="4724400" y="3852800"/>
            <a:ext cx="4419600" cy="1290900"/>
          </a:xfrm>
          <a:prstGeom prst="rect">
            <a:avLst/>
          </a:prstGeom>
          <a:noFill/>
          <a:ln cap="flat" cmpd="sng" w="2857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Conclusions:</a:t>
            </a:r>
            <a:r>
              <a:rPr lang="en" sz="800">
                <a:latin typeface="Times New Roman"/>
                <a:ea typeface="Times New Roman"/>
                <a:cs typeface="Times New Roman"/>
                <a:sym typeface="Times New Roman"/>
              </a:rPr>
              <a:t> </a:t>
            </a:r>
            <a:r>
              <a:rPr lang="en" sz="750">
                <a:latin typeface="Times New Roman"/>
                <a:ea typeface="Times New Roman"/>
                <a:cs typeface="Times New Roman"/>
                <a:sym typeface="Times New Roman"/>
              </a:rPr>
              <a:t>In summary, the data shows that black and white hispanic males aged 25 to 44 commit the most crimes, with their crimes of choice usually being assault, drinking/drug offenses and theft. These crimes tend to occur outside and in apartments, commercial buildings and houses during the middle of the week from Wednesday to Friday, all throughout the year but mostly during spring (March and May), August and October. In addition, when crimes occur people take on average 27 days to report them.The results also show that when building a classification model to predict the sex of a perpetrator the most important features, in decreasing order are the type of offense, the location of the crime(precinct and jurisdiction) and the race of the perpetrator.</a:t>
            </a:r>
            <a:endParaRPr sz="75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3"/>
          <p:cNvSpPr txBox="1"/>
          <p:nvPr/>
        </p:nvSpPr>
        <p:spPr>
          <a:xfrm>
            <a:off x="0" y="3493800"/>
            <a:ext cx="4651800" cy="1649700"/>
          </a:xfrm>
          <a:prstGeom prst="rect">
            <a:avLst/>
          </a:prstGeom>
          <a:noFill/>
          <a:ln cap="flat" cmpd="sng" w="28575">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002F84"/>
                </a:solidFill>
                <a:latin typeface="Times New Roman"/>
                <a:ea typeface="Times New Roman"/>
                <a:cs typeface="Times New Roman"/>
                <a:sym typeface="Times New Roman"/>
              </a:rPr>
              <a:t>Methodology:</a:t>
            </a:r>
            <a:r>
              <a:rPr lang="en" sz="1100">
                <a:latin typeface="Times New Roman"/>
                <a:ea typeface="Times New Roman"/>
                <a:cs typeface="Times New Roman"/>
                <a:sym typeface="Times New Roman"/>
              </a:rPr>
              <a:t> Descriptive analytics tools such as exploratory data analysis and PowerBI were used to create advanced visualizations that highlighted criminal trends and patterns by interlaying input features such as the year, months and day of week of crimes, the race, age group and gender of criminals and the offense type, law category code, location, premises and jurisdictions of criminal activity. Predictive analytics was then used to build a classification model to predict the gender of criminals and hereby highlight which crime data features are most important when predicting the gender of a perpetrator.</a:t>
            </a:r>
            <a:endParaRPr sz="11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100">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sz="1100">
              <a:latin typeface="Times New Roman"/>
              <a:ea typeface="Times New Roman"/>
              <a:cs typeface="Times New Roman"/>
              <a:sym typeface="Times New Roman"/>
            </a:endParaRPr>
          </a:p>
        </p:txBody>
      </p:sp>
      <p:pic>
        <p:nvPicPr>
          <p:cNvPr id="61" name="Google Shape;61;p13"/>
          <p:cNvPicPr preferRelativeResize="0"/>
          <p:nvPr/>
        </p:nvPicPr>
        <p:blipFill rotWithShape="1">
          <a:blip r:embed="rId3">
            <a:alphaModFix/>
          </a:blip>
          <a:srcRect b="0" l="0" r="0" t="0"/>
          <a:stretch/>
        </p:blipFill>
        <p:spPr>
          <a:xfrm>
            <a:off x="46425" y="81013"/>
            <a:ext cx="641569" cy="349946"/>
          </a:xfrm>
          <a:prstGeom prst="rect">
            <a:avLst/>
          </a:prstGeom>
          <a:noFill/>
          <a:ln>
            <a:noFill/>
          </a:ln>
        </p:spPr>
      </p:pic>
      <p:pic>
        <p:nvPicPr>
          <p:cNvPr descr="Text&#10;&#10;Description automatically generated" id="62" name="Google Shape;62;p13"/>
          <p:cNvPicPr preferRelativeResize="0"/>
          <p:nvPr/>
        </p:nvPicPr>
        <p:blipFill rotWithShape="1">
          <a:blip r:embed="rId4">
            <a:alphaModFix/>
          </a:blip>
          <a:srcRect b="0" l="0" r="0" t="0"/>
          <a:stretch/>
        </p:blipFill>
        <p:spPr>
          <a:xfrm>
            <a:off x="734419" y="81013"/>
            <a:ext cx="857124" cy="407485"/>
          </a:xfrm>
          <a:prstGeom prst="rect">
            <a:avLst/>
          </a:prstGeom>
          <a:noFill/>
          <a:ln>
            <a:noFill/>
          </a:ln>
        </p:spPr>
      </p:pic>
      <p:pic>
        <p:nvPicPr>
          <p:cNvPr id="63" name="Google Shape;63;p13"/>
          <p:cNvPicPr preferRelativeResize="0"/>
          <p:nvPr/>
        </p:nvPicPr>
        <p:blipFill>
          <a:blip r:embed="rId5">
            <a:alphaModFix/>
          </a:blip>
          <a:stretch>
            <a:fillRect/>
          </a:stretch>
        </p:blipFill>
        <p:spPr>
          <a:xfrm>
            <a:off x="4869625" y="2076475"/>
            <a:ext cx="1947950" cy="861600"/>
          </a:xfrm>
          <a:prstGeom prst="rect">
            <a:avLst/>
          </a:prstGeom>
          <a:noFill/>
          <a:ln>
            <a:noFill/>
          </a:ln>
        </p:spPr>
      </p:pic>
      <p:pic>
        <p:nvPicPr>
          <p:cNvPr id="64" name="Google Shape;64;p13"/>
          <p:cNvPicPr preferRelativeResize="0"/>
          <p:nvPr/>
        </p:nvPicPr>
        <p:blipFill rotWithShape="1">
          <a:blip r:embed="rId6">
            <a:alphaModFix/>
          </a:blip>
          <a:srcRect b="11160" l="0" r="0" t="-11160"/>
          <a:stretch/>
        </p:blipFill>
        <p:spPr>
          <a:xfrm>
            <a:off x="4869625" y="2841025"/>
            <a:ext cx="1947950" cy="927350"/>
          </a:xfrm>
          <a:prstGeom prst="rect">
            <a:avLst/>
          </a:prstGeom>
          <a:noFill/>
          <a:ln>
            <a:noFill/>
          </a:ln>
        </p:spPr>
      </p:pic>
      <p:pic>
        <p:nvPicPr>
          <p:cNvPr id="65" name="Google Shape;65;p13"/>
          <p:cNvPicPr preferRelativeResize="0"/>
          <p:nvPr/>
        </p:nvPicPr>
        <p:blipFill>
          <a:blip r:embed="rId7">
            <a:alphaModFix/>
          </a:blip>
          <a:stretch>
            <a:fillRect/>
          </a:stretch>
        </p:blipFill>
        <p:spPr>
          <a:xfrm>
            <a:off x="6750400" y="1829250"/>
            <a:ext cx="2279222" cy="1011775"/>
          </a:xfrm>
          <a:prstGeom prst="rect">
            <a:avLst/>
          </a:prstGeom>
          <a:noFill/>
          <a:ln>
            <a:noFill/>
          </a:ln>
        </p:spPr>
      </p:pic>
      <p:pic>
        <p:nvPicPr>
          <p:cNvPr id="66" name="Google Shape;66;p13"/>
          <p:cNvPicPr preferRelativeResize="0"/>
          <p:nvPr/>
        </p:nvPicPr>
        <p:blipFill>
          <a:blip r:embed="rId8">
            <a:alphaModFix/>
          </a:blip>
          <a:stretch>
            <a:fillRect/>
          </a:stretch>
        </p:blipFill>
        <p:spPr>
          <a:xfrm>
            <a:off x="6784000" y="2841025"/>
            <a:ext cx="2212025" cy="1011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